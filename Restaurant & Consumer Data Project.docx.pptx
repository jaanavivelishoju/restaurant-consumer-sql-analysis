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2" r:id="rId12"/>
    <p:sldId id="274" r:id="rId13"/>
    <p:sldId id="275" r:id="rId14"/>
    <p:sldId id="276" r:id="rId15"/>
    <p:sldId id="268" r:id="rId16"/>
    <p:sldId id="277" r:id="rId17"/>
    <p:sldId id="278" r:id="rId18"/>
    <p:sldId id="279" r:id="rId19"/>
    <p:sldId id="281" r:id="rId20"/>
    <p:sldId id="282" r:id="rId21"/>
    <p:sldId id="283" r:id="rId22"/>
    <p:sldId id="284" r:id="rId23"/>
    <p:sldId id="259" r:id="rId24"/>
  </p:sldIdLst>
  <p:sldSz cx="12192000" cy="6858000"/>
  <p:notesSz cx="6858000" cy="9144000"/>
  <p:embeddedFontLst>
    <p:embeddedFont>
      <p:font typeface="Lato Black" panose="020F0502020204030203" pitchFamily="34" charset="0"/>
      <p:bold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>
                <a:solidFill>
                  <a:schemeClr val="accent6">
                    <a:lumMod val="75000"/>
                  </a:schemeClr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>
                <a:solidFill>
                  <a:schemeClr val="accent6">
                    <a:lumMod val="75000"/>
                  </a:schemeClr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jaanavi-velishoju-ba7864376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aanaviVelishoju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1800" b="1" dirty="0"/>
              <a:t>Restaurant &amp; Consumer Data Analysis Using SQL</a:t>
            </a:r>
            <a:br>
              <a:rPr lang="en-US" sz="1800" dirty="0"/>
            </a:br>
            <a:r>
              <a:rPr lang="en-US" sz="1800" i="1" dirty="0"/>
              <a:t>Understanding Customer Preferences, Restaurant Performance, and Rating Behavior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747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B.Tech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Career Goal: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Analytics / Data Science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Data Science: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Interested in using data to solve real-world business problems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Fresher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Skills: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Python • Pandas • SQL • Statistics • EDA • Web Scraping</a:t>
            </a:r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LinkedIn | GitHub :</a:t>
            </a: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www.linkedin.com/in/jaanavi-velishoju-ba7864376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https://github.com/JaanaviVelishoju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dk1"/>
              </a:buClr>
              <a:buSzPts val="2400"/>
              <a:buFont typeface="Arial"/>
              <a:buChar char="•"/>
            </a:pPr>
            <a:endParaRPr lang="en-IN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: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Introduction :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dirty="0"/>
              <a:t>This project uses a </a:t>
            </a:r>
            <a:r>
              <a:rPr lang="en-US" sz="2000" b="1" dirty="0"/>
              <a:t>Restaurant &amp; Consumer dataset</a:t>
            </a:r>
            <a:r>
              <a:rPr lang="en-US" sz="2000" dirty="0"/>
              <a:t> containing information about consumers, restaurants, cuisines, preferences, and ratings.</a:t>
            </a:r>
          </a:p>
          <a:p>
            <a:r>
              <a:rPr lang="en-US" sz="2000" dirty="0"/>
              <a:t>The raw data was provided in CSV files and organized into a structured relational SQL database.</a:t>
            </a:r>
          </a:p>
          <a:p>
            <a:r>
              <a:rPr lang="en-US" sz="2000" dirty="0"/>
              <a:t>SQL was used to answer business questions related to customer behavior, restaurant quality, cuisine preferences, and location-based performance.</a:t>
            </a:r>
          </a:p>
          <a:p>
            <a:r>
              <a:rPr lang="en-US" sz="2000" dirty="0"/>
              <a:t>The project simulates a real-world analytics use case for a restaurant recommendation or customer-insights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5E85-E347-DBF7-53A2-B045315B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Business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DBB29-7742-AFD0-9EAA-8E68C6D51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A restaurant discovery or recommendation company needs to understand:</a:t>
            </a:r>
          </a:p>
          <a:p>
            <a:r>
              <a:rPr lang="en-US" sz="2000" dirty="0"/>
              <a:t>Which restaurants are performing well based on customer ratings?</a:t>
            </a:r>
          </a:p>
          <a:p>
            <a:r>
              <a:rPr lang="en-US" sz="2000" dirty="0"/>
              <a:t>Which cuisines and restaurant features attract customers?</a:t>
            </a:r>
          </a:p>
          <a:p>
            <a:r>
              <a:rPr lang="en-US" sz="2000" dirty="0"/>
              <a:t>How do consumer demographics, lifestyle, and budget affect ratings?</a:t>
            </a:r>
          </a:p>
          <a:p>
            <a:r>
              <a:rPr lang="en-US" sz="2000" dirty="0"/>
              <a:t>Which restaurants are underperforming compared with average ratings?</a:t>
            </a:r>
          </a:p>
          <a:p>
            <a:r>
              <a:rPr lang="en-US" sz="2000" dirty="0"/>
              <a:t>How can SQL help identify suitable restaurants for different customer segments?</a:t>
            </a:r>
          </a:p>
          <a:p>
            <a:endParaRPr lang="en-US" sz="2000" dirty="0"/>
          </a:p>
          <a:p>
            <a:r>
              <a:rPr lang="en-US" sz="2000" b="1" dirty="0"/>
              <a:t>Business goal:</a:t>
            </a:r>
            <a:br>
              <a:rPr lang="en-US" sz="2000" dirty="0"/>
            </a:br>
            <a:r>
              <a:rPr lang="en-US" sz="2000" dirty="0"/>
              <a:t>Use SQL-based analysis to identify high-performing restaurants, understand customer preferences, and support better restaurant recommendations and marketing decisions.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80051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B460-44DE-B030-3C77-F6B6C552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E51240-B82B-D245-F2F4-13DF456CA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3794" y="1582340"/>
            <a:ext cx="911820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raw CSV data into a structured relational database.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relationships between consumers, restaurants, cuisines, preferences, and ratings.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SQL to filter, join, aggregate, rank, and compare data.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restaurant performance using overall, food, and service ratings.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consumer segments based on occupation, budget, lifestyle, and cuisine preference.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advanced SQL concepts such as CTEs, views, window functions, and stored procedures.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Convert query results into meaningful business insights.</a:t>
            </a:r>
          </a:p>
        </p:txBody>
      </p:sp>
    </p:spTree>
    <p:extLst>
      <p:ext uri="{BB962C8B-B14F-4D97-AF65-F5344CB8AC3E}">
        <p14:creationId xmlns:p14="http://schemas.microsoft.com/office/powerpoint/2010/main" val="407202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B2A1-C598-F3C9-7B7A-B69BA511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Dataset &amp; Data Source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601A3-5A51-DCFB-E563-D0C96E746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Dataset:</a:t>
            </a:r>
            <a:r>
              <a:rPr lang="en-IN" dirty="0"/>
              <a:t> Restaurant &amp; Consumer Data</a:t>
            </a:r>
            <a:br>
              <a:rPr lang="en-IN" dirty="0"/>
            </a:br>
            <a:r>
              <a:rPr lang="en-IN" b="1" dirty="0"/>
              <a:t>Source:</a:t>
            </a:r>
            <a:r>
              <a:rPr lang="en-IN" dirty="0"/>
              <a:t> provided course dataset. The original dataset was created for a restaurant recommender-system prototype and includes consumer profiles, restaurant information, cuisine data, and ratings.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33AF83-D708-CA6D-B766-E20D00232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561902"/>
              </p:ext>
            </p:extLst>
          </p:nvPr>
        </p:nvGraphicFramePr>
        <p:xfrm>
          <a:off x="838200" y="2378359"/>
          <a:ext cx="10515600" cy="322631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700292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93080473"/>
                    </a:ext>
                  </a:extLst>
                </a:gridCol>
              </a:tblGrid>
              <a:tr h="257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File / Table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Purpose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880038"/>
                  </a:ext>
                </a:extLst>
              </a:tr>
              <a:tr h="4080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consumers.csv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Consumer profile: ID, city, age, occupation, budget, smoker, drink level, transportation, marital status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91200"/>
                  </a:ext>
                </a:extLst>
              </a:tr>
              <a:tr h="257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consumer_preferences.csv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Cuisine preferred by each consumer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630139"/>
                  </a:ext>
                </a:extLst>
              </a:tr>
              <a:tr h="6050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restaurants.csv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Restaurant details: name, city, price, alcohol service, parking, franchise, area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700612"/>
                  </a:ext>
                </a:extLst>
              </a:tr>
              <a:tr h="257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restaurant_cuisines.csv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Cuisine served by each restaurant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554750"/>
                  </a:ext>
                </a:extLst>
              </a:tr>
              <a:tr h="4080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ratings.csv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Consumer ratings for restaurants: overall, food, and service ratings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825013"/>
                  </a:ext>
                </a:extLst>
              </a:tr>
              <a:tr h="257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  <a:latin typeface="Courier New" panose="02070309020205020404" pitchFamily="49" charset="0"/>
                        </a:rPr>
                        <a:t>data_dictionary.csv</a:t>
                      </a:r>
                      <a:endParaRPr lang="en-IN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Description of each column and its meaning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212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9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C1DC-D37F-61F3-3104-8E88E0CB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Database Structure ,Schema Overview &amp;ER Diagram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ECD872-9F16-1E6F-9A42-6B253BBC5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69949" y="1291451"/>
            <a:ext cx="5475514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primary key in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 foreign key in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consumer_preferences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primary key in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 foreign key in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restaurant_cuisines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ratings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central fact table connecting consumers and restaurants.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consumer_preferences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restaurant_cuisines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many-to-many mapping tables because one consumer can like many cuisines and one restaurant can serve many cuisines.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624A9B-752B-1110-A8BD-8FDAFC1EA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448" y="1291451"/>
            <a:ext cx="5314552" cy="4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487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3C04B-6543-6477-2501-A3790BF0D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SQL Queries &amp; Analysis Approach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DC69F3-5C3B-2F9E-61F3-1143D2805C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1" y="1228398"/>
            <a:ext cx="1072815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approach: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understanding: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Reviewed tables, columns, data types, and relationships.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filtering: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WHERE to extract consumers, restaurants, and ratings based on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JOIN to combine consumer, restaurant, cuisine, and rating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GROUP BY, COUNT, AVG, and HAVING to calculate rating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Used subqueries, CTEs, derived tables, window functions, views, and stored procedures.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generation: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Interpreted results to answer business questions.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query explanation: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Name, City,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Alcohol_Service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Price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restaurants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Alcohol_Service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'Wine &amp; Beer' AND Price = 'Medium';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it does: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 restaurants that serve wine and beer and have a medium price level.</a:t>
            </a:r>
          </a:p>
        </p:txBody>
      </p:sp>
    </p:spTree>
    <p:extLst>
      <p:ext uri="{BB962C8B-B14F-4D97-AF65-F5344CB8AC3E}">
        <p14:creationId xmlns:p14="http://schemas.microsoft.com/office/powerpoint/2010/main" val="2204126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FCA5-ACA7-750B-C328-6800A856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165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Key SQL Concepts Used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0D485-F9FF-9D6E-1326-53142564D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7C5EA1-BAAB-DA61-32B6-A8E7AE4E3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653397"/>
              </p:ext>
            </p:extLst>
          </p:nvPr>
        </p:nvGraphicFramePr>
        <p:xfrm>
          <a:off x="883459" y="866776"/>
          <a:ext cx="10425081" cy="5091504"/>
        </p:xfrm>
        <a:graphic>
          <a:graphicData uri="http://schemas.openxmlformats.org/drawingml/2006/table">
            <a:tbl>
              <a:tblPr/>
              <a:tblGrid>
                <a:gridCol w="3475027">
                  <a:extLst>
                    <a:ext uri="{9D8B030D-6E8A-4147-A177-3AD203B41FA5}">
                      <a16:colId xmlns:a16="http://schemas.microsoft.com/office/drawing/2014/main" val="691899901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490758123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913945448"/>
                    </a:ext>
                  </a:extLst>
                </a:gridCol>
              </a:tblGrid>
              <a:tr h="8692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SQL Concept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Where Used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Purpose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78349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  <a:latin typeface="Courier New" panose="02070309020205020404" pitchFamily="49" charset="0"/>
                        </a:rPr>
                        <a:t>SELECT</a:t>
                      </a:r>
                      <a:r>
                        <a:rPr lang="en-IN" sz="1400" dirty="0">
                          <a:effectLst/>
                        </a:rPr>
                        <a:t>, </a:t>
                      </a:r>
                      <a:r>
                        <a:rPr lang="en-IN" sz="1400" dirty="0">
                          <a:effectLst/>
                          <a:latin typeface="Courier New" panose="02070309020205020404" pitchFamily="49" charset="0"/>
                        </a:rPr>
                        <a:t>WHERE</a:t>
                      </a:r>
                      <a:endParaRPr lang="en-IN" sz="1400" dirty="0">
                        <a:effectLst/>
                      </a:endParaRP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Basic filters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Retrieve specific rows based on conditions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32206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Courier New" panose="02070309020205020404" pitchFamily="49" charset="0"/>
                        </a:rPr>
                        <a:t>JOIN</a:t>
                      </a:r>
                      <a:endParaRPr lang="en-IN" sz="1400">
                        <a:effectLst/>
                      </a:endParaRP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Consumer-restaurant-rating analysis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Combine related tables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70839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Courier New" panose="02070309020205020404" pitchFamily="49" charset="0"/>
                        </a:rPr>
                        <a:t>GROUP BY</a:t>
                      </a:r>
                      <a:endParaRPr lang="en-IN" sz="1400">
                        <a:effectLst/>
                      </a:endParaRP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Restaurant and consumer analysis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Group records for aggregation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05454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Courier New" panose="02070309020205020404" pitchFamily="49" charset="0"/>
                        </a:rPr>
                        <a:t>COUNT</a:t>
                      </a:r>
                      <a:r>
                        <a:rPr lang="en-IN" sz="1400">
                          <a:effectLst/>
                        </a:rPr>
                        <a:t>, </a:t>
                      </a:r>
                      <a:r>
                        <a:rPr lang="en-IN" sz="1400">
                          <a:effectLst/>
                          <a:latin typeface="Courier New" panose="02070309020205020404" pitchFamily="49" charset="0"/>
                        </a:rPr>
                        <a:t>AVG</a:t>
                      </a:r>
                      <a:endParaRPr lang="en-IN" sz="1400">
                        <a:effectLst/>
                      </a:endParaRP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Rating analysis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Count ratings and calculate averages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45390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  <a:latin typeface="Courier New" panose="02070309020205020404" pitchFamily="49" charset="0"/>
                        </a:rPr>
                        <a:t>HAVING</a:t>
                      </a:r>
                      <a:endParaRPr lang="en-IN" sz="1400" dirty="0">
                        <a:effectLst/>
                      </a:endParaRP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Filter after aggregation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Filter groups based on aggregate values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49237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Subqueries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Compare ratings with averages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Use one query result inside another query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63912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CTEs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Complex multi-step analysis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Make queries readable and modular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16596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Derived tables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Temporary result sets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Simplify nested logic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958851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Window functions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  <a:latin typeface="Courier New" panose="02070309020205020404" pitchFamily="49" charset="0"/>
                        </a:rPr>
                        <a:t>ROW_NUMBER</a:t>
                      </a:r>
                      <a:r>
                        <a:rPr lang="en-IN" sz="1400">
                          <a:effectLst/>
                        </a:rPr>
                        <a:t>, </a:t>
                      </a:r>
                      <a:r>
                        <a:rPr lang="en-IN" sz="1400">
                          <a:effectLst/>
                          <a:latin typeface="Courier New" panose="02070309020205020404" pitchFamily="49" charset="0"/>
                        </a:rPr>
                        <a:t>RANK</a:t>
                      </a:r>
                      <a:r>
                        <a:rPr lang="en-IN" sz="1400">
                          <a:effectLst/>
                        </a:rPr>
                        <a:t>, </a:t>
                      </a:r>
                      <a:r>
                        <a:rPr lang="en-IN" sz="1400">
                          <a:effectLst/>
                          <a:latin typeface="Courier New" panose="02070309020205020404" pitchFamily="49" charset="0"/>
                        </a:rPr>
                        <a:t>LAG</a:t>
                      </a:r>
                      <a:endParaRPr lang="en-IN" sz="1400">
                        <a:effectLst/>
                      </a:endParaRP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>
                          <a:effectLst/>
                        </a:rPr>
                        <a:t>Ranking and comparison within groups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48180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Views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Reusable analysis logic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Store frequently used queries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22282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Stored procedures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Parameter-based reporting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Reusable queries with inputs</a:t>
                      </a:r>
                    </a:p>
                  </a:txBody>
                  <a:tcPr marL="75544" marR="75544" marT="75544" marB="7554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130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284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CA639-EDD5-006D-965D-F5A080B56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Analysis Questions / Use Cases :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DCA2B-16F3-3C8B-3911-8493D1030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r>
              <a:rPr lang="en-US" b="1" dirty="0"/>
              <a:t>Basic Filtering Questions</a:t>
            </a:r>
          </a:p>
          <a:p>
            <a:r>
              <a:rPr lang="en-US" dirty="0"/>
              <a:t>Which consumers live in Cuernavaca?</a:t>
            </a:r>
          </a:p>
          <a:p>
            <a:r>
              <a:rPr lang="en-US" dirty="0"/>
              <a:t>Which consumers are students and smokers?</a:t>
            </a:r>
          </a:p>
          <a:p>
            <a:r>
              <a:rPr lang="en-US" dirty="0"/>
              <a:t>Which restaurants serve wine and beer at a medium price?</a:t>
            </a:r>
          </a:p>
          <a:p>
            <a:r>
              <a:rPr lang="en-US" b="1" dirty="0"/>
              <a:t>Join &amp; Subquery Questions</a:t>
            </a:r>
          </a:p>
          <a:p>
            <a:r>
              <a:rPr lang="en-US" dirty="0"/>
              <a:t>Which restaurants received a highly satisfactory rating?</a:t>
            </a:r>
          </a:p>
          <a:p>
            <a:r>
              <a:rPr lang="en-US" dirty="0"/>
              <a:t>Which consumers rated restaurants in San Luis Potosi?</a:t>
            </a:r>
          </a:p>
          <a:p>
            <a:r>
              <a:rPr lang="en-US" dirty="0"/>
              <a:t>Which Mexican restaurants were rated by consumer U1001?</a:t>
            </a:r>
          </a:p>
          <a:p>
            <a:r>
              <a:rPr lang="en-US" b="1" dirty="0"/>
              <a:t>Aggregation &amp; Advanced Questions</a:t>
            </a:r>
          </a:p>
          <a:p>
            <a:r>
              <a:rPr lang="en-US" dirty="0"/>
              <a:t>Which restaurants are highly rated Mexican restaurants?</a:t>
            </a:r>
          </a:p>
          <a:p>
            <a:r>
              <a:rPr lang="en-US" dirty="0"/>
              <a:t>Which are the top 2 restaurants for each cuisine?</a:t>
            </a:r>
          </a:p>
          <a:p>
            <a:r>
              <a:rPr lang="en-US" dirty="0"/>
              <a:t>What is each consumer’s spending segment and restaurant performance comparison?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4094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B244-6660-C365-DEE1-E37582A5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Results &amp; Business Insights: Basic Filters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71700-F1D3-5744-17E6-560879902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9366" y="1373229"/>
            <a:ext cx="5157787" cy="823912"/>
          </a:xfrm>
        </p:spPr>
        <p:txBody>
          <a:bodyPr/>
          <a:lstStyle/>
          <a:p>
            <a:pPr marL="114300" indent="0"/>
            <a:r>
              <a:rPr lang="en-IN" b="1" dirty="0"/>
              <a:t>Query 1: Consumers in Cuernavaca 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2C958-7670-A40D-8836-47896F3D263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62013" y="2097882"/>
            <a:ext cx="5157787" cy="3684588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14300" indent="0">
              <a:buNone/>
            </a:pPr>
            <a:r>
              <a:rPr lang="en-US" b="1" dirty="0"/>
              <a:t>Insight:</a:t>
            </a:r>
          </a:p>
          <a:p>
            <a:pPr marL="114300" indent="0">
              <a:buNone/>
            </a:pPr>
            <a:r>
              <a:rPr lang="en-US" dirty="0"/>
              <a:t>Cuernavaca has 22 consumers in the dataset, making it an important location for local restaurant analysis.]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DBEAA6-84C3-030E-6704-FE7D5361439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96000" y="1273970"/>
            <a:ext cx="5183188" cy="823912"/>
          </a:xfrm>
        </p:spPr>
        <p:txBody>
          <a:bodyPr/>
          <a:lstStyle/>
          <a:p>
            <a:r>
              <a:rPr lang="en-IN" b="1" dirty="0"/>
              <a:t>Query 2: Student smokers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D57837-21B2-3923-9003-8D4F43154D3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202447" y="2097882"/>
            <a:ext cx="5183188" cy="3684588"/>
          </a:xfrm>
        </p:spPr>
        <p:txBody>
          <a:bodyPr>
            <a:noAutofit/>
          </a:bodyPr>
          <a:lstStyle/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114300" indent="0">
              <a:buNone/>
            </a:pPr>
            <a:r>
              <a:rPr lang="en-US" sz="2000" b="1" dirty="0"/>
              <a:t>Insight:</a:t>
            </a:r>
          </a:p>
          <a:p>
            <a:pPr marL="114300" indent="0">
              <a:buNone/>
            </a:pPr>
            <a:r>
              <a:rPr lang="en-US" sz="2000" dirty="0"/>
              <a:t> 23 students are smokers. This can help understand lifestyle-based customer segments.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B203BC-C2F8-D310-F21C-774B6CF9B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608" y="2296278"/>
            <a:ext cx="3309392" cy="2051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FEED26-F4F7-CF34-6302-6E4CA8A92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247" y="2097882"/>
            <a:ext cx="4100930" cy="215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849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8D612-DAD6-E1EE-283E-2DFEC97E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3032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25B52-1CFD-F85A-D69E-A5B27E2BC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857251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 3: Wine &amp; Beer, Medium-price restaurants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F6CBF-C23D-65DB-2616-76E694C307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38213" y="5034431"/>
            <a:ext cx="5157787" cy="1384834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These restaurants may appeal to customers looking for moderate-cost dining with alcohol service.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9421D1-4855-DA81-C656-686223016BE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7603" y="555836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Query 4: Franchise restaurants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D19045-5A24-1279-9824-F5F3759BBB2B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97600" y="5034431"/>
            <a:ext cx="5157787" cy="1155232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sz="2000" b="1" dirty="0"/>
              <a:t>Insight:</a:t>
            </a:r>
          </a:p>
          <a:p>
            <a:pPr marL="114300" indent="0">
              <a:buNone/>
            </a:pPr>
            <a:r>
              <a:rPr lang="en-US" sz="2000" dirty="0"/>
              <a:t>Franchise restaurants are present in 22 cities, indicating wider brand coverage.]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95E281-4FD1-D805-6943-E7060A2CD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23" y="1681163"/>
            <a:ext cx="4401164" cy="3353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05A0B7-FCFB-B502-87D1-EF58D11B8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046" y="1428001"/>
            <a:ext cx="4776302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82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5F3D-3A45-9C1E-FF6F-EC9306DF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Results &amp; Business Insights: Joins &amp; Subqueries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C856F-F602-19A9-02E0-8158912CD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269207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 5: Highly satisfactory ratings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6F8B2-14FD-4E0D-2B4F-5655E526CC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6612" y="5015706"/>
            <a:ext cx="5157787" cy="1325563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 486 ratings were highly satisfactory, showing which consumer-restaurant pairs had the best experience.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6C084-49EA-7CCA-F44B-0D249BE18FC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278732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Query: Restaurants with at least one overall rating of 2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38D9AE-417F-374A-4C80-A342D40405F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380748" y="5015706"/>
            <a:ext cx="5183188" cy="13255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 These restaurants have demonstrated strong customer satisfaction at least once and can be considered for promotion.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B128D3-6D33-E169-4374-596754D2C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13" y="2343943"/>
            <a:ext cx="4552198" cy="26717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7F21D9-B6DA-1A56-4E89-139633532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06384"/>
            <a:ext cx="5477639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86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3BF2-0702-89DA-D568-E2486824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50114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A7CCC-1AA9-4FC7-9DDC-0D39C4E54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22626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Query: Restaurants with food rating below average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CC494-1BC7-1288-133C-9324315CB2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61474" y="4668253"/>
            <a:ext cx="5436101" cy="152141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What it does:</a:t>
            </a:r>
            <a:br>
              <a:rPr lang="en-US" dirty="0"/>
            </a:br>
            <a:r>
              <a:rPr lang="en-US" dirty="0"/>
              <a:t>Compares each restaurant’s food rating with the average food rating across all ratings.</a:t>
            </a:r>
          </a:p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[Restaurants below the average food rating may need improvement in food quality, menu consistency, or preparation.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5F22A-99A7-0257-7B12-941586A58CC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222626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Query: Consumers who rated restaurants but not Italian restaurants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5F5D71-89E4-512C-AD94-72D6F1962D2F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941514" y="4668252"/>
            <a:ext cx="5436101" cy="120236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These consumers are active reviewers but have not engaged with Italian cuisine, representing a potential target group for Italian restaurant recommendations.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6B075E-DACB-ED94-8C9E-456087D99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74" y="2186030"/>
            <a:ext cx="5183188" cy="23427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C9B8CC-E10A-B260-B005-52FBD2025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229" y="2079195"/>
            <a:ext cx="4723386" cy="273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0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FA30-E482-45B8-82AC-1681851A0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Results &amp; Business Insights: Aggregations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43C7B-338A-C390-BB88-705FDC19C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30117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Query: Students who rated more than 2 restaurants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081DC-7447-6A7C-7780-8BB003091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6612" y="4395537"/>
            <a:ext cx="5160963" cy="1794126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EC645D-11C1-2106-F997-9F3CC062EAC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45666" y="1343366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Query: Average overall rating of Cuernavaca restaurants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CA3675-13B0-6E6B-70D9-D85522B2A48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846307" y="5045529"/>
            <a:ext cx="5653552" cy="224776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b="1" dirty="0"/>
              <a:t>Insight:</a:t>
            </a:r>
            <a:br>
              <a:rPr lang="en-US" sz="2000" dirty="0"/>
            </a:br>
            <a:r>
              <a:rPr lang="en-US" sz="2000" dirty="0"/>
              <a:t> Restaurants in Cuernavaca with an average rating above 1.0 are relatively better performing and can be highlighted in recommendations.]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0835FF-323B-C795-5C72-86324E62F389}"/>
              </a:ext>
            </a:extLst>
          </p:cNvPr>
          <p:cNvSpPr txBox="1"/>
          <p:nvPr/>
        </p:nvSpPr>
        <p:spPr>
          <a:xfrm>
            <a:off x="545431" y="5450999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students rated more than two restaurants, indicating higher engagement among student consumers.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7EAAEF-5AA7-CD27-5B97-99D9EB6D4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879" y="2093119"/>
            <a:ext cx="4858428" cy="3295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B5D834-008C-6366-12CC-B4D08338D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934" y="2093119"/>
            <a:ext cx="5202925" cy="259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9969-AEFB-39F3-18D1-C8FDD36E3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303212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Results &amp; Business Insights: CTEs &amp; Window Functions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30318-4FFD-7DDD-C552-FC508620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921885"/>
            <a:ext cx="5157787" cy="82391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Query: Consumers whose food rating equals service rating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4342E5-22EC-CD1B-EB0E-171E660EFF7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14388" y="4784271"/>
            <a:ext cx="5183188" cy="140539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Insight:</a:t>
            </a:r>
            <a:r>
              <a:rPr lang="en-US" dirty="0"/>
              <a:t> For these consumers, food and service experience were equally rated, suggesting consistent satisfaction or dissatisfaction across both factors.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AFE76-8E8F-054B-433D-E99DDC92683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7603" y="921885"/>
            <a:ext cx="5183188" cy="82391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Query: San Luis Potosi consumers who rated Mexican restaurants with rating 2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7637DE-A007-DA05-A8B0-9B620E4E29E4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94426" y="4523014"/>
            <a:ext cx="5160962" cy="1666649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b="1" dirty="0"/>
              <a:t>What it does:</a:t>
            </a:r>
            <a:br>
              <a:rPr lang="en-US" dirty="0"/>
            </a:br>
            <a:r>
              <a:rPr lang="en-US" dirty="0"/>
              <a:t>Uses a CTE to first identify consumers living in San Luis Potosi, then joins their ratings with Mexican restaurants.</a:t>
            </a:r>
          </a:p>
          <a:p>
            <a:pPr marL="114300" indent="0">
              <a:buNone/>
            </a:pPr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Local consumers in San Luis Potosi who prefer or rate Mexican food highly can be targeted with Mexican restaurant recommendations.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DA3D19-A367-5F82-CFC6-C8AF19D34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95" y="1831751"/>
            <a:ext cx="5003574" cy="29318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033DAA-F993-8DED-89D7-EE36B0009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212" y="1831750"/>
            <a:ext cx="5122594" cy="271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64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9926-E89A-E2D9-010A-543BB447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30321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E5B2A-6EEC-3D4F-A1C3-FFD3A6B2A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813" y="975813"/>
            <a:ext cx="5157787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Query: Rank ratings within each Cuernavaca restaurant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88953-A177-2072-FF0A-81BCA423B3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15914" y="4507831"/>
            <a:ext cx="5183188" cy="1681831"/>
          </a:xfrm>
        </p:spPr>
        <p:txBody>
          <a:bodyPr>
            <a:noAutofit/>
          </a:bodyPr>
          <a:lstStyle/>
          <a:p>
            <a:r>
              <a:rPr lang="en-US" sz="1800" b="1" dirty="0"/>
              <a:t>What it does:</a:t>
            </a:r>
            <a:br>
              <a:rPr lang="en-US" sz="1800" dirty="0"/>
            </a:br>
            <a:r>
              <a:rPr lang="en-US" sz="1800" dirty="0"/>
              <a:t>Uses ROW_NUMBER() or RANK() to rank ratings from highest to lowest within each restaurant.</a:t>
            </a:r>
          </a:p>
          <a:p>
            <a:r>
              <a:rPr lang="en-US" sz="1800" b="1" dirty="0"/>
              <a:t>Insight:</a:t>
            </a:r>
            <a:br>
              <a:rPr lang="en-US" sz="1800" dirty="0"/>
            </a:br>
            <a:r>
              <a:rPr lang="en-US" sz="1800" dirty="0"/>
              <a:t>Ranking helps identify the best-rated customer experiences for each restaurant.</a:t>
            </a:r>
          </a:p>
          <a:p>
            <a:pPr marL="114300" indent="0">
              <a:buNone/>
            </a:pPr>
            <a:endParaRPr lang="en-IN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8BA3E-6897-49B4-C63A-2210F7C410F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96000" y="762794"/>
            <a:ext cx="5183188" cy="823912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Query: Top 3 preferred cuisines for low-budget students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0C3C4B-C99E-94B3-BED6-9091F283E900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9806782" y="1799724"/>
            <a:ext cx="1980405" cy="3972425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dirty="0"/>
              <a:t>"First, I used a CTE to filter consumers with a Low budget and student . -- Then one more CTE , joined them with the </a:t>
            </a:r>
            <a:r>
              <a:rPr lang="en-US" dirty="0" err="1"/>
              <a:t>Consumer_Preferences</a:t>
            </a:r>
            <a:r>
              <a:rPr lang="en-US" dirty="0"/>
              <a:t> table and used ROW_NUMBER() to rank their preferred cuisines. -- Finally, I selected the first three cuisines for each consumer.“</a:t>
            </a:r>
          </a:p>
          <a:p>
            <a:pPr marL="114300" indent="0">
              <a:buNone/>
            </a:pPr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The most common preferred cuisines among low-budget students can guide affordable restaurant recommendations.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15068A-388C-A489-AF17-2FEE449F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22" y="1799725"/>
            <a:ext cx="4019954" cy="25742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D609D9-5263-ADA5-6777-81EE29186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184" y="1586706"/>
            <a:ext cx="2990849" cy="475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22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7C7B8-217F-6B2D-D012-4F194AB9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6" y="149225"/>
            <a:ext cx="10515600" cy="1325563"/>
          </a:xfrm>
        </p:spPr>
        <p:txBody>
          <a:bodyPr/>
          <a:lstStyle/>
          <a:p>
            <a:r>
              <a:rPr lang="en-US" dirty="0"/>
              <a:t>Query Results &amp; Business Insights: Views &amp; Stored Procedures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75434-F3F9-94D8-CD4A-5ABA44C48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776" y="1166020"/>
            <a:ext cx="5157787" cy="823912"/>
          </a:xfrm>
        </p:spPr>
        <p:txBody>
          <a:bodyPr>
            <a:normAutofit fontScale="62500" lnSpcReduction="20000"/>
          </a:bodyPr>
          <a:lstStyle/>
          <a:p>
            <a:endParaRPr lang="en-IN" dirty="0"/>
          </a:p>
          <a:p>
            <a:r>
              <a:rPr lang="en-IN" b="1" dirty="0"/>
              <a:t>View: </a:t>
            </a:r>
            <a:r>
              <a:rPr lang="en-IN" b="1" dirty="0" err="1"/>
              <a:t>HighlyRatedMexicanRestaurants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65876-C1FF-82C3-7DCC-0A4A4FD7072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087906" y="2035570"/>
            <a:ext cx="1958882" cy="275550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400" b="1" dirty="0"/>
              <a:t>Purpose:</a:t>
            </a:r>
            <a:br>
              <a:rPr lang="en-US" sz="1400" dirty="0"/>
            </a:br>
            <a:r>
              <a:rPr lang="en-US" sz="1400" dirty="0"/>
              <a:t>Creates a reusable list of Mexican restaurants with an average overall rating above 1.5.</a:t>
            </a:r>
          </a:p>
          <a:p>
            <a:pPr marL="114300" indent="0">
              <a:buNone/>
            </a:pPr>
            <a:r>
              <a:rPr lang="en-US" sz="1400" b="1" dirty="0"/>
              <a:t>Insight:</a:t>
            </a:r>
            <a:br>
              <a:rPr lang="en-US" sz="1400" dirty="0"/>
            </a:br>
            <a:r>
              <a:rPr lang="en-US" sz="1400" dirty="0"/>
              <a:t>These restaurants consistently receive strong ratings and are strong candidates for recommendations.</a:t>
            </a:r>
            <a:endParaRPr lang="en-IN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DDF534-CDAD-6F00-CB7D-709BE0E941A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96000" y="812006"/>
            <a:ext cx="5183188" cy="823912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Stored Procedure: </a:t>
            </a:r>
            <a:r>
              <a:rPr lang="en-IN" b="1" dirty="0" err="1"/>
              <a:t>GetRestaurantRatingsAboveThreshold</a:t>
            </a:r>
            <a:endParaRPr lang="en-IN" b="1" dirty="0"/>
          </a:p>
          <a:p>
            <a:r>
              <a:rPr lang="en-IN" b="1" dirty="0"/>
              <a:t>Purpose: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3E25F88-3EEC-38C0-DFAE-79051004B67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0001249" y="1833425"/>
            <a:ext cx="1600201" cy="288145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1100" b="1" dirty="0"/>
              <a:t>Purpose:</a:t>
            </a:r>
            <a:br>
              <a:rPr lang="en-US" sz="1100" dirty="0"/>
            </a:br>
            <a:r>
              <a:rPr lang="en-US" sz="1100" dirty="0"/>
              <a:t>Accepts a </a:t>
            </a:r>
            <a:r>
              <a:rPr lang="en-US" sz="1100" dirty="0" err="1"/>
              <a:t>Restaurant_ID</a:t>
            </a:r>
            <a:r>
              <a:rPr lang="en-US" sz="1100" dirty="0"/>
              <a:t> and minimum rating, then returns matching consumer ratings.</a:t>
            </a:r>
          </a:p>
          <a:p>
            <a:pPr marL="114300" indent="0">
              <a:buNone/>
            </a:pPr>
            <a:r>
              <a:rPr lang="en-US" sz="1100" b="1" dirty="0"/>
              <a:t>Insight:</a:t>
            </a:r>
            <a:br>
              <a:rPr lang="en-US" sz="1100" dirty="0"/>
            </a:br>
            <a:r>
              <a:rPr lang="en-US" sz="1100" dirty="0"/>
              <a:t>This procedure helps restaurant managers quickly view ratings above a chosen quality threshold.</a:t>
            </a:r>
          </a:p>
          <a:p>
            <a:endParaRPr lang="en-IN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C610A2-247C-2731-9D53-D5F81F15D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438" y="1786552"/>
            <a:ext cx="3211512" cy="41570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65BFBD-0DF4-EC47-05EB-2AA217BBE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77" y="1750231"/>
            <a:ext cx="3968935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94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158C-7726-30A9-C57E-08F7D8D47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Key Findings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608FFD-CD6D-835E-7E72-33A7E3A28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84729" y="1577098"/>
            <a:ext cx="917985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Highly rated restaurants can be identified using average overall, food, and service ratings.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preferences vary by cuisine, budget, occupation,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Students, employed consumers, and different budget groups show different rating and engagement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restaurants perform below the average food rating and may need operational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Mexican cuisine appears as an important cuisine category for both consumer preference and restaurant performance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CTEs, views, and stored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proedures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complex analysis reusable and easier to maintain.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can support restaurant recommendation, customer segmentation, and performance monitoring.</a:t>
            </a:r>
          </a:p>
        </p:txBody>
      </p:sp>
    </p:spTree>
    <p:extLst>
      <p:ext uri="{BB962C8B-B14F-4D97-AF65-F5344CB8AC3E}">
        <p14:creationId xmlns:p14="http://schemas.microsoft.com/office/powerpoint/2010/main" val="46643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7832-0AF9-F626-74A5-00E6E44D6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Challenges Faced :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0F560-FC57-DA6A-8330-244114456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653" y="1027906"/>
            <a:ext cx="10515600" cy="4351338"/>
          </a:xfrm>
        </p:spPr>
        <p:txBody>
          <a:bodyPr/>
          <a:lstStyle/>
          <a:p>
            <a:r>
              <a:rPr lang="en-US" dirty="0"/>
              <a:t>Understanding relationships between multiple tables and choosing the correct join type.</a:t>
            </a:r>
          </a:p>
          <a:p>
            <a:r>
              <a:rPr lang="en-US" dirty="0"/>
              <a:t>Handling many-to-many relationships between consumers and cuisines, and restaurants and cuisines.</a:t>
            </a:r>
          </a:p>
          <a:p>
            <a:r>
              <a:rPr lang="en-US" dirty="0"/>
              <a:t>Writing correct GROUP BY and HAVING logic for aggregate conditions.</a:t>
            </a:r>
          </a:p>
          <a:p>
            <a:r>
              <a:rPr lang="en-US" dirty="0"/>
              <a:t>Avoiding duplicate rows when joining ratings with cuisine or preference tables.</a:t>
            </a:r>
          </a:p>
          <a:p>
            <a:r>
              <a:rPr lang="en-US" dirty="0"/>
              <a:t>Understanding SQL logical execution order: FROM → JOIN → WHERE → GROUP BY → HAVING → SELECT → ORDER BY.</a:t>
            </a:r>
          </a:p>
          <a:p>
            <a:r>
              <a:rPr lang="en-US" dirty="0"/>
              <a:t>Writing complex CTEs, window functions, and stored procedures correctly.</a:t>
            </a:r>
          </a:p>
          <a:p>
            <a:r>
              <a:rPr lang="en-US" dirty="0"/>
              <a:t>Interpreting rating values and converting technical results into business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92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1F43-694F-43DA-E0D7-5B6F6BE13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Future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28E8A7-4EC3-4515-DBC2-DF8CDE191B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8882" y="1615845"/>
            <a:ext cx="776036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data-cleaning steps to handle missing, inconsistent, or duplicate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restaurant visit date and time to analyze seasonal and time-based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 dashboard using Power BI for visual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simple recommendation query or system based on consumer cuisine preferences, budget, city, and rating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more consumer attributes such as income, reviews, and visit frequency.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stored procedures and views to create reusable reports for business users.</a:t>
            </a:r>
          </a:p>
        </p:txBody>
      </p:sp>
    </p:spTree>
    <p:extLst>
      <p:ext uri="{BB962C8B-B14F-4D97-AF65-F5344CB8AC3E}">
        <p14:creationId xmlns:p14="http://schemas.microsoft.com/office/powerpoint/2010/main" val="332038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721E-F617-7B2F-2540-04CF5F11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Conclusion 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B2EC79-510F-7584-5AD2-F2C2AB700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69894" y="1486382"/>
            <a:ext cx="753577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this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successfully transformed restaurant and consumer CSV data into a relational SQL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database.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It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analyze customer demographics, cuisine preferences, restaurant features, and rating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performance.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This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analysis helped to identified highly rated restaurants, low-performing restaurants, active consumers, and cuisine-based customer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segments.Advanced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 concepts were applied to solve real-world business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questions.The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demonstrates how SQL can support data-driven decisions in the restaurant or other industries.</a:t>
            </a:r>
          </a:p>
        </p:txBody>
      </p:sp>
    </p:spTree>
    <p:extLst>
      <p:ext uri="{BB962C8B-B14F-4D97-AF65-F5344CB8AC3E}">
        <p14:creationId xmlns:p14="http://schemas.microsoft.com/office/powerpoint/2010/main" val="4134179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2620</TotalTime>
  <Words>1960</Words>
  <Application>Microsoft Office PowerPoint</Application>
  <PresentationFormat>Widescreen</PresentationFormat>
  <Paragraphs>213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Lato Black</vt:lpstr>
      <vt:lpstr>Libre Baskerville</vt:lpstr>
      <vt:lpstr>Courier New</vt:lpstr>
      <vt:lpstr>Calibri</vt:lpstr>
      <vt:lpstr>Arial</vt:lpstr>
      <vt:lpstr>Office Theme</vt:lpstr>
      <vt:lpstr>PowerPoint Presentation</vt:lpstr>
      <vt:lpstr>PowerPoint Presentation</vt:lpstr>
      <vt:lpstr>Introduction :</vt:lpstr>
      <vt:lpstr>Business Problem Statement</vt:lpstr>
      <vt:lpstr>Project Objectives</vt:lpstr>
      <vt:lpstr>Dataset &amp; Data Source :</vt:lpstr>
      <vt:lpstr>Database Structure ,Schema Overview &amp;ER Diagram :</vt:lpstr>
      <vt:lpstr>SQL Queries &amp; Analysis Approach :</vt:lpstr>
      <vt:lpstr>Key SQL Concepts Used :</vt:lpstr>
      <vt:lpstr>Key Analysis Questions / Use Cases :</vt:lpstr>
      <vt:lpstr>Query Results &amp; Business Insights: Basic Filters</vt:lpstr>
      <vt:lpstr>PowerPoint Presentation</vt:lpstr>
      <vt:lpstr>Query Results &amp; Business Insights: Joins &amp; Subqueries</vt:lpstr>
      <vt:lpstr>PowerPoint Presentation</vt:lpstr>
      <vt:lpstr>Query Results &amp; Business Insights: Aggregations</vt:lpstr>
      <vt:lpstr>Query Results &amp; Business Insights: CTEs &amp; Window Functions</vt:lpstr>
      <vt:lpstr>PowerPoint Presentation</vt:lpstr>
      <vt:lpstr>Query Results &amp; Business Insights: Views &amp; Stored Procedures</vt:lpstr>
      <vt:lpstr>Key Findings :</vt:lpstr>
      <vt:lpstr>Challenges Faced : </vt:lpstr>
      <vt:lpstr>Future Improvements</vt:lpstr>
      <vt:lpstr>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Jaanavi Velishoju</cp:lastModifiedBy>
  <cp:revision>88</cp:revision>
  <dcterms:created xsi:type="dcterms:W3CDTF">2021-02-16T05:19:01Z</dcterms:created>
  <dcterms:modified xsi:type="dcterms:W3CDTF">2026-10-06T08:56:52Z</dcterms:modified>
</cp:coreProperties>
</file>